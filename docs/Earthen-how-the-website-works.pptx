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spc="450">
                <a:solidFill>
                  <a:srgbClr val="E4D7C4"/>
                </a:solidFill>
                <a:latin typeface="Calibri"/>
              </a:rPr>
              <a:t>EARTHEN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F7F4EE"/>
                </a:solidFill>
                <a:latin typeface="Georgia"/>
              </a:rPr>
              <a:t>How the website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94760"/>
            <a:ext cx="82296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E4D7C4"/>
                </a:solidFill>
                <a:latin typeface="Calibri"/>
              </a:rPr>
              <a:t>A walkthrough of the shop and the studio,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4D7C4"/>
                </a:solidFill>
                <a:latin typeface="Calibri"/>
              </a:rPr>
              <a:t>from the first visit to sign-out.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E7658"/>
                </a:solidFill>
                <a:latin typeface="Georgia"/>
              </a:rPr>
              <a:t>Quiet clothes for every 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WEBSITE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Two doors, two logins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A shopper and a member of staff never share a sign-in.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5349240" cy="40690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74519"/>
            <a:ext cx="91440" cy="4069080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A34B36"/>
                </a:solidFill>
                <a:latin typeface="Calibri"/>
              </a:rPr>
              <a:t>THE 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C1A17"/>
                </a:solidFill>
                <a:latin typeface="Georgia"/>
              </a:rPr>
              <a:t>For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Home, search, a piece, the bag, checkout, account.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Anyone can browse. Checkout needs an email, not an account.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An account keeps orders, addresses, the bag, and the wishlist.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Prices are in rupees and include GST.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74519"/>
            <a:ext cx="5349240" cy="4069080"/>
          </a:xfrm>
          <a:prstGeom prst="rect">
            <a:avLst/>
          </a:prstGeom>
          <a:solidFill>
            <a:srgbClr val="4F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80">
                <a:solidFill>
                  <a:srgbClr val="E4D7C4"/>
                </a:solidFill>
                <a:latin typeface="Calibri"/>
              </a:rPr>
              <a:t>THE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688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F7F4EE"/>
                </a:solidFill>
                <a:latin typeface="Georgia"/>
              </a:rPr>
              <a:t>For 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46120"/>
            <a:ext cx="466344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7F4EE"/>
                </a:solidFill>
                <a:latin typeface="Calibri"/>
              </a:rPr>
              <a:t>A separate sign-in at the studio door.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7F4EE"/>
                </a:solidFill>
                <a:latin typeface="Calibri"/>
              </a:rPr>
              <a:t>Owner, catalog manager, or order and support.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7F4EE"/>
                </a:solidFill>
                <a:latin typeface="Calibri"/>
              </a:rPr>
              <a:t>Each role sees only its own pages.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F7F4EE"/>
                </a:solidFill>
                <a:latin typeface="Calibri"/>
              </a:rPr>
              <a:t>Orders, stock, coupons, tax, and the look of the shop.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VISIT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2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What we will walk 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Seven steps for the customer. Staff pick the order up at step four.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042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Arrive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88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Home, announcement, and the promises.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18288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042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Find a piece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788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Search, filters, and the grid.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8288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3042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Choose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788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Colour, size, bag, or wishlist.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7" y="18288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7" y="1993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7" y="23042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Pay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7" y="27889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Address, delivery, coupon, and payment.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8862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40507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361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Follow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8463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Confirmed through to delivered.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38862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0507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361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Aftercare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48463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Cancel, return, invoice, or a review.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886200"/>
            <a:ext cx="2697480" cy="1874519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40507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20">
                <a:solidFill>
                  <a:srgbClr val="A34B36"/>
                </a:solidFill>
                <a:latin typeface="Calibr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361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Account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4632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Profile, orders, wishlist, sign-out.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3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Arriving on the 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6675120" cy="4480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season name, a headline, and two ways in: Shop the collection, and Our story.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Hero photographs. A live store-wide sale shows its name and the percent off.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Women, Men, and Unisex, then categories, including New in.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season banner, new arrivals, and up to four recently viewed pieces.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An olive announcement bar. Staff write it, or the site fills in shipping and returns. It can be hidden.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The header carries search, account, and the bag count. On a phone it also opens Our story and Help.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The footer holds policies, contact, the studio address, and GSTIN.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554480"/>
            <a:ext cx="4069080" cy="960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54112" y="170078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A17"/>
                </a:solidFill>
                <a:latin typeface="Calibri"/>
              </a:rPr>
              <a:t>Free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20116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Over the studio 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651760"/>
            <a:ext cx="4069080" cy="960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279806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A17"/>
                </a:solidFill>
                <a:latin typeface="Calibri"/>
              </a:rPr>
              <a:t>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108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A set window, pickup arranged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3749039"/>
            <a:ext cx="4069080" cy="960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112" y="389534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A17"/>
                </a:solidFill>
                <a:latin typeface="Calibri"/>
              </a:rPr>
              <a:t>Cash on 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42062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When the studio allows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4846320"/>
            <a:ext cx="4069080" cy="960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4992624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A17"/>
                </a:solidFill>
                <a:latin typeface="Calibri"/>
              </a:rPr>
              <a:t>Secure payment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53035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UPI, cards, net banking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Arriving on the 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homepage as it is running now, with the announcement the studio has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4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Finding a piece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5486400" cy="443484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7451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498348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Opens over the page as they type.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Matches show the price. A sale price is crossed out.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Popular searches: linen, overshirt, trousers, cardigan, olive.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Looks through name, fabric, origin, description, category, and colour.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 one-letter miss still matches.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91640"/>
            <a:ext cx="5349240" cy="443484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Twenty pieces a page, from a category, New in, or an audience.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Sort by newest, popularity, or price.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Filter size, colour, gender, price, and stock.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Women and Men also keep unisex pieces.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Save or add to the bag from the card, without opening the piece.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clothing grid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All clothing, newest first, with size, colour, gender, and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5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On a piece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Drafts and archived pieces stay off the shop. Only active pieces can be bought.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3736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Photographs, price, fabric, stars, and a New in mark.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Who it was photographed on, and how it fits.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Colour and size. A saved usual size is pre-selected.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Gone sizes are struck through. Three or fewer left is said aloud on the page.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 size guide in centimetres, upper or lower body.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303520" cy="4389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Details, origin, fabric, care, shipping, and returns.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Add to bag. A panel offers View bag or Checkout.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Wishlist, and remove it the same way.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Out of stock: leave an email and be written to when it returns.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 review after delivery: stars, fit, and an optional height.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 PIN check, and four related pieces underneath.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Linen Overshirt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Colour, size, a delivery check, add to bag, and the wishlist.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6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Bag, then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No account is required. The receipt goes to the email on the 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486400" cy="4389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The bag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23160"/>
            <a:ext cx="498348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Colour, size, quantity, and remove.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Type a code, or open Offers for this order.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Each offer shows the saving, the minimum, and why it may not apply.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 bar shows how close they are to free standard delivery.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Subtotal, shipping, discount, and a GST-inclusive total.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5349240" cy="438912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846320" cy="3383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Address, a serviceable PIN, and saved addresses when signed in.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Standard or express. A free-shipping code waives either.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Optional gift wrap, a card note, and prices left off the packing slip.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UPI, card, or net banking through Razorpay.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Cash on delivery when it is on, and under the studio limit.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Stock drops as the order is placed. The bag empties.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bag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Three pieces, quantities, and a place for a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Aisha is signed in. On this machine the page still says no payment is taken.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7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After the order is placed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2103120" cy="77724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E"/>
                </a:solidFill>
                <a:latin typeface="Calibri"/>
              </a:rPr>
              <a:t>Confirmed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691640"/>
            <a:ext cx="2103120" cy="77724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19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E"/>
                </a:solidFill>
                <a:latin typeface="Calibri"/>
              </a:rPr>
              <a:t>Packed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1691640"/>
            <a:ext cx="2103120" cy="77724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874519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E"/>
                </a:solidFill>
                <a:latin typeface="Calibri"/>
              </a:rPr>
              <a:t>Shipped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4927" y="1691640"/>
            <a:ext cx="2103120" cy="77724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874519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E"/>
                </a:solidFill>
                <a:latin typeface="Calibri"/>
              </a:rPr>
              <a:t>Out for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10928" y="1691640"/>
            <a:ext cx="2103120" cy="777240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1874519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4EE"/>
                </a:solidFill>
                <a:latin typeface="Calibri"/>
              </a:rPr>
              <a:t>Delivered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88920"/>
            <a:ext cx="5577840" cy="157276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953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Follow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383279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Status, courier tracking once staff add it, payment method, and the city it is going 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73368" y="2788920"/>
            <a:ext cx="5577840" cy="157276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953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Change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383279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Cancel while it is confirmed or packed. Stock returns. A paid Razorpay order is sent for refund.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26279"/>
            <a:ext cx="5577840" cy="157276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690871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Bring it 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512064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After delivery, inside the studio’s return window: refund or exchange, with pickup from the same address.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4526279"/>
            <a:ext cx="5577840" cy="157276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4690871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Keep the paper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120640"/>
            <a:ext cx="512064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A GST invoice to print or save. Review the piece once it has arrived.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order, once it is placed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EA-10424 is confirmed. The invoice and cancel are both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8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The account, from sign-in to sign-out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231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Name, email, a 10-digit mobile, and a password of at least 8 characters.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73736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Sign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4231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Email and password. A blocked account is refused. Forgot password sends a link that lasts 30 minutes.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173736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920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42316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Orders, wishlist, addresses, the latest order, and pieces they asked to hear about.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3192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6177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Name and mobile. A usual size. An address book, with one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688" y="393192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6177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Number, date, status, and total. Guest orders appear when the email matches.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3931920"/>
            <a:ext cx="361188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41148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Sign 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461772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560"/>
                </a:solidFill>
                <a:latin typeface="Calibri"/>
              </a:rPr>
              <a:t>Ends the session. The shop stays open. The wishlist on a signed-out browser stays on that browser.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A signed-in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Orders, the wishlist, a saved address, and what was viewed last.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9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Who can open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The menu hides the rest. A direct link outside the role is refused.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916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51760"/>
                <a:gridCol w="2651760"/>
                <a:gridCol w="2651760"/>
              </a:tblGrid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7F4EE"/>
                          </a:solidFill>
                          <a:latin typeface="Calibri"/>
                        </a:rPr>
                        <a:t>Page</a:t>
                      </a:r>
                    </a:p>
                  </a:txBody>
                  <a:tcPr anchor="ctr" marL="128016" marR="73152">
                    <a:solidFill>
                      <a:srgbClr val="4F563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7F4EE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 marL="128016" marR="73152">
                    <a:solidFill>
                      <a:srgbClr val="4F563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7F4EE"/>
                          </a:solidFill>
                          <a:latin typeface="Calibri"/>
                        </a:rPr>
                        <a:t>Catalog manager</a:t>
                      </a:r>
                    </a:p>
                  </a:txBody>
                  <a:tcPr anchor="ctr" marL="128016" marR="73152">
                    <a:solidFill>
                      <a:srgbClr val="4F563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7F4EE"/>
                          </a:solidFill>
                          <a:latin typeface="Calibri"/>
                        </a:rPr>
                        <a:t>Order and support</a:t>
                      </a:r>
                    </a:p>
                  </a:txBody>
                  <a:tcPr anchor="ctr" marL="128016" marR="73152">
                    <a:solidFill>
                      <a:srgbClr val="4F5638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Dashboard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Products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Categories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Orders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Returns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Customers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Coupons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7F4EE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C1A17"/>
                          </a:solidFill>
                          <a:latin typeface="Calibri"/>
                        </a:rPr>
                        <a:t>Settings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F56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6560"/>
                          </a:solidFill>
                          <a:latin typeface="Calibri"/>
                        </a:rPr>
                        <a:t>·</a:t>
                      </a:r>
                    </a:p>
                  </a:txBody>
                  <a:tcPr anchor="ctr" marL="128016" marR="73152">
                    <a:solidFill>
                      <a:srgbClr val="FBF9F5"/>
                    </a:solidFill>
                    <a:lnL w="6350">
                      <a:solidFill>
                        <a:srgbClr val="E4DDD2"/>
                      </a:solidFill>
                    </a:lnL>
                    <a:lnR w="6350">
                      <a:solidFill>
                        <a:srgbClr val="E4DDD2"/>
                      </a:solidFill>
                    </a:lnR>
                    <a:lnT w="6350">
                      <a:solidFill>
                        <a:srgbClr val="E4DDD2"/>
                      </a:solidFill>
                    </a:lnT>
                    <a:lnB w="6350">
                      <a:solidFill>
                        <a:srgbClr val="E4DDD2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10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The morning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Every role lands here. The links onward appear only when that role can open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743200" cy="196596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743200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Revenue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Set against yesterday.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7288" y="1737360"/>
            <a:ext cx="2743200" cy="196596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737360"/>
            <a:ext cx="2743200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965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Orders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69748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Set against yesterday.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737360"/>
            <a:ext cx="2743200" cy="196596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7648" y="1737360"/>
            <a:ext cx="2743200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Pending shipments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9748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Confirmed and packed, including any from before today.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08007" y="1737360"/>
            <a:ext cx="2743200" cy="196596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08007" y="1737360"/>
            <a:ext cx="2743200" cy="73152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1965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Low 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69748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Active pieces with one to five units left in a colour and size.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977639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bar of sales for the last seven days.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The latest orders, and an export of the order list.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Low stock names the piece, the colour, and the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morning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Revenue today, open shipments, low stock, and the latest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11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The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6903720" cy="443484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7451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640080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Search, then filter by status, category, audience, and stock.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Add a piece, or import a spreadsheet. A new piece starts in XS to XL.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Edit name, description, fabric, care, price, and a dated sale price.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Active, draft, or archived. Draft and archived stay off the shop.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Up to eight colours and eight photographs. The first photo is the card.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Stock by colour and size. Restocking emails anyone who asked.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91640"/>
            <a:ext cx="3931920" cy="4434840"/>
          </a:xfrm>
          <a:prstGeom prst="rect">
            <a:avLst/>
          </a:prstGeom>
          <a:solidFill>
            <a:srgbClr val="4F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874519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7F4EE"/>
                </a:solidFill>
                <a:latin typeface="Georgia"/>
              </a:rPr>
              <a:t>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3317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4D7C4"/>
                </a:solidFill>
                <a:latin typeface="Calibri"/>
              </a:rPr>
              <a:t>Owner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88036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Name, a short line, and a portrait.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Upper-body or lower-body size chart.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How many pieces sit in each.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New in stays a filter, not a category.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F7F4EE"/>
                </a:solidFill>
                <a:latin typeface="Calibri"/>
              </a:rPr>
              <a:t>The header, home, and shop read this list.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Search and filters, a spreadsheet import, and add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12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An order, from the list to the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548640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Search by number, name, email, or phone.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Filter: all, confirmed, packed, shipped, delivered, cancelled.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Open one order: items, SKU, GST, and the total.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Move the status. The customer is emailed.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note that only staff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91640"/>
            <a:ext cx="5303520" cy="4297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Customer, address, and whether payment is paid or still due.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Create a shipment with a courier and a tracking number.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Print a shipping label, and print the GST invoice.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Cancelling a packed order returns the stock and the coupon use.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paid Razorpay order is sent for refund.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The order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Search, status filters, and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13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Returns, customers, and coupons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3657600" cy="45262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3657600" cy="73152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74519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Returns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2316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Waiting, rupees still to refund, the return rate, and days to decide.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Approve or reject.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 refund returns stock and the Razorpay payment.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An exchange is emailed for staff to arrange.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 rejection puts the order back to delivered.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645920"/>
            <a:ext cx="3657600" cy="45262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645920"/>
            <a:ext cx="3657600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874519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2316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Search name, email, or phone.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Everyone, or repeat buyers only.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Orders, amount spent, and the last order.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Guest checkouts appear by the email used.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Block a person. They cannot sign in or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7888" y="1645920"/>
            <a:ext cx="3657600" cy="45262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645920"/>
            <a:ext cx="3657600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874519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A17"/>
                </a:solidFill>
                <a:latin typeface="Georgia"/>
              </a:rPr>
              <a:t>Coupons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6" y="242316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Percent off, a fixed amount, or free shipping.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 minimum order, a use limit, and dates.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Active, scheduled, or expired.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Open a code to edit it.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1C1A17"/>
                </a:solidFill>
                <a:latin typeface="Calibri"/>
              </a:rPr>
              <a:t>The shop lists live codes in the bag and at checkout.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Orders, amount spent, and who is active. Guest checkouts appear by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Coupons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EARTHEN200, FREESHIP, and WELCOME10, each with a use limit.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14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Sales, tax, and how people 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All time, or the last 30 days. Cancelled orders stay out of the totals.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11064240" cy="102412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73936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922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Net sales, order count, average order, GST collected, and refunds. Bars for category and for payment method.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11064240" cy="102412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916936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GST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Taxable value, CGST, SGST, and IGST, month by month. Karnataka splits CGST and SGST. Other states use IGST.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31920"/>
            <a:ext cx="11064240" cy="102412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59935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782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UPI, cards, cash on delivery, and net banking, each as a share of sales.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74920"/>
            <a:ext cx="11064240" cy="1024128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202936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1A17"/>
                </a:solidFill>
                <a:latin typeface="Georgia"/>
              </a:rPr>
              <a:t>The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2212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GST is already in the shelf price. Five percent up to ₹1,000 a piece. Twelve percent above that.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Sales and GST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This period’s sales, how people paid, and the October GST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THE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15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What the owner can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Nothing reaches the shop until Save changes. The owner also invites staff.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557784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3852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The shop 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Announcement, homepage words, hero photographs, the season picture, and the Women, Men, and Unisex tiles.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73368" y="1737360"/>
            <a:ext cx="557784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93852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Money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A store-wide sale, shipping rates, the free-shipping line, cash on delivery, and its fee and limit.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31920"/>
            <a:ext cx="557784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7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After the sale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Return window in days, and the refund wording. Exchanges can be recorded here.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73368" y="3931920"/>
            <a:ext cx="5577840" cy="2011680"/>
          </a:xfrm>
          <a:prstGeom prst="rect">
            <a:avLst/>
          </a:prstGeom>
          <a:solidFill>
            <a:srgbClr val="FBF9F5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133087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The paper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63440"/>
            <a:ext cx="5074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Business name, GSTIN, prices inclusive of GST, and the studio address on the invoice and the footer.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828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spc="240">
                <a:solidFill>
                  <a:srgbClr val="6E7658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6459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7273" y="484632"/>
            <a:ext cx="8277148" cy="5193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705" y="512064"/>
            <a:ext cx="8222284" cy="5138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8912" y="5815584"/>
            <a:ext cx="87782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What the owner can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126480"/>
            <a:ext cx="950976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560"/>
                </a:solidFill>
                <a:latin typeface="Calibri"/>
              </a:rPr>
              <a:t>The announcement, staff, and the store-wide sale. Nothing reaches the shop until Save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47104"/>
            <a:ext cx="30632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6560"/>
                </a:solidFill>
                <a:latin typeface="Calibri"/>
              </a:rPr>
              <a:t>localhost:3000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220">
                <a:solidFill>
                  <a:srgbClr val="6E7658"/>
                </a:solidFill>
                <a:latin typeface="Calibri"/>
              </a:rPr>
              <a:t>BOTH SIDES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10528"/>
            <a:ext cx="11064240" cy="9144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471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spc="180">
                <a:solidFill>
                  <a:srgbClr val="6B6560"/>
                </a:solidFill>
                <a:latin typeface="Calibri"/>
              </a:rPr>
              <a:t>EARTHEN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6560"/>
                </a:solidFill>
                <a:latin typeface="Calibri"/>
              </a:rPr>
              <a:t>16  /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03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The letters the site sends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560"/>
                </a:solidFill>
                <a:latin typeface="Calibri"/>
              </a:rPr>
              <a:t>These go out when mail is configured.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109728" cy="9875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Account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71907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password reset. The link expires in 30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88920"/>
            <a:ext cx="109728" cy="987552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Back in 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6207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A note that the request was kept, then a second letter when that colour and size returns, with a link to the piece.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931920"/>
            <a:ext cx="109728" cy="987552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The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0507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Confirmed, packed, shipped, out for delivery, delivered, and cancelled.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74920"/>
            <a:ext cx="109728" cy="987552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1A17"/>
                </a:solidFill>
                <a:latin typeface="Georgia"/>
              </a:rPr>
              <a:t>The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148072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Calibri"/>
              </a:rPr>
              <a:t>Requested, approved, exchange approved, declined, and returned.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E7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spc="240">
                <a:solidFill>
                  <a:srgbClr val="E4D7C4"/>
                </a:solidFill>
                <a:latin typeface="Calibri"/>
              </a:rPr>
              <a:t>THE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7F4EE"/>
                </a:solidFill>
                <a:latin typeface="Georgia"/>
              </a:rPr>
              <a:t>One customer.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7F4EE"/>
                </a:solidFill>
                <a:latin typeface="Georgia"/>
              </a:rPr>
              <a:t>Then one owner.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 i="0">
                <a:solidFill>
                  <a:srgbClr val="E4D7C4"/>
                </a:solidFill>
                <a:latin typeface="Calibri"/>
              </a:rPr>
              <a:t>Show the shop from the homepage to a placed order.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E4D7C4"/>
                </a:solidFill>
                <a:latin typeface="Calibri"/>
              </a:rPr>
              <a:t>Sign out. Open the studio, and show that same order moving.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9893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6E7658"/>
                </a:solidFill>
                <a:latin typeface="Georgia"/>
              </a:rPr>
              <a:t>Earthen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34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spc="140">
                <a:solidFill>
                  <a:srgbClr val="A34B36"/>
                </a:solidFill>
                <a:latin typeface="Calibri"/>
              </a:rPr>
              <a:t>FOR US  ·  SKIP THIS SLIDE 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C1A17"/>
                </a:solidFill>
                <a:latin typeface="Georgia"/>
              </a:rPr>
              <a:t>Say these if they come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Sign-in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41732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Email and password. A one-time code is not part of this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350008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50008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The customer can choose SMS or WhatsApp. The letters that go out today are email.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282696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Contact and the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282696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Both confirm on the page. They do not yet send to the studio or store the address.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215384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215384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UPI, cards, and net banking need Razorpay. Without it, the page says no payment is taken. Cash on delivery still places an order.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48072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C1A17"/>
                </a:solidFill>
                <a:latin typeface="Georgia"/>
              </a:rPr>
              <a:t>Two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148072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C1A17"/>
                </a:solidFill>
                <a:latin typeface="Calibri"/>
              </a:rPr>
              <a:t>Allow exchanges is saved, and the return form still offers both. Homepage banners are a staff list. The live homepage uses the words and the pictures.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Earthen — how the website works</dc:title>
  <dc:subject>Client walkthrough of the shop and the studio</dc:subject>
  <dc:creator>Earthen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